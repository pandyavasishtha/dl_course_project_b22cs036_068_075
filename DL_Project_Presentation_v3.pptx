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0096B0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82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SLIDE 1 OF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YOLOv9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4F2F8"/>
                </a:solidFill>
              </a:rPr>
              <a:t>Base / Selected Paper Overview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AFC4"/>
                </a:solidFill>
              </a:rPr>
              <a:t>Learning What You Want to Learn Using Programmable Gradient Information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120640" cy="22860"/>
          </a:xfrm>
          <a:prstGeom prst="rect">
            <a:avLst/>
          </a:prstGeom>
          <a:solidFill>
            <a:srgbClr val="5A7A95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331720"/>
            <a:ext cx="2487168" cy="2542032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64008" cy="254203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77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2688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F2F8"/>
                </a:solidFill>
              </a:rPr>
              <a:t>Programmable Gradient Information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9626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① Main Branch — inference only, zero extra cost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57530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② Auxiliary Reversible Branch — training only; generates reliable gradients by maintaining complete information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③ Multi-level Auxiliary Info — aggregates gradients across FPN levels, prevents broken-information in deep supervision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07792" y="2331720"/>
            <a:ext cx="2487168" cy="2542032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07792" y="2331720"/>
            <a:ext cx="64008" cy="25420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3044952" y="2377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44952" y="2688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F2F8"/>
                </a:solidFill>
              </a:rPr>
              <a:t>Generalized Efficient Layer Aggregation Network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44952" y="29992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• CSPNet + ELAN via gradient path planning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44952" y="34564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• Supports any compute block — Conv, Res, Dark, CSP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44952" y="39136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• Standard convolution; better param efficiency than depth-wise designs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44952" y="43708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F2F8"/>
                </a:solidFill>
              </a:rPr>
              <a:t>• Depth-insensitive: stable performance without special tuning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59552" y="91440"/>
            <a:ext cx="3493008" cy="4983480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992" y="1645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E0"/>
                </a:solidFill>
              </a:rPr>
              <a:t>KEY RESULTS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50992" y="512064"/>
            <a:ext cx="3291840" cy="111556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27" name="Text 25"/>
          <p:cNvSpPr/>
          <p:nvPr/>
        </p:nvSpPr>
        <p:spPr>
          <a:xfrm>
            <a:off x="5650992" y="5486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55.6%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5650992" y="1252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FC4"/>
                </a:solidFill>
              </a:rPr>
              <a:t>mAP on MS COCO  •  YOLOv9-E  •  Train from scratch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50992" y="17739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D166"/>
                </a:solidFill>
              </a:rPr>
              <a:t>THE CORE PROBLEM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50992" y="2029968"/>
            <a:ext cx="3291840" cy="530352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1" name="Text 29"/>
          <p:cNvSpPr/>
          <p:nvPr/>
        </p:nvSpPr>
        <p:spPr>
          <a:xfrm>
            <a:off x="5650992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I(X,X) &gt;= I(X, f(X)) &gt;= I(X, g(f(X)))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50992" y="23591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AFC4"/>
                </a:solidFill>
              </a:rPr>
              <a:t>Information lost across layers -&gt; biased gradients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50992" y="26517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D166"/>
                </a:solidFill>
              </a:rPr>
              <a:t>COMPARISONS vs. SOTA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50992" y="2944368"/>
            <a:ext cx="3291840" cy="56692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5650992" y="2944368"/>
            <a:ext cx="54864" cy="5669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5760720" y="29809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 YOLOv7 AF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3218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FC4"/>
                </a:solidFill>
              </a:rPr>
              <a:t>Params: 42% fewer   FLOPs: 22% fewer   AP: Same 53% AP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50992" y="3557016"/>
            <a:ext cx="3291840" cy="56692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9" name="Shape 37"/>
          <p:cNvSpPr/>
          <p:nvPr/>
        </p:nvSpPr>
        <p:spPr>
          <a:xfrm>
            <a:off x="5650992" y="3557016"/>
            <a:ext cx="54864" cy="56692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359359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 YOLOv8-X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8313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FC4"/>
                </a:solidFill>
              </a:rPr>
              <a:t>Params: 16% fewer   FLOPs: 27% fewer   AP: +1.7% AP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50992" y="4169664"/>
            <a:ext cx="3291840" cy="56692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43" name="Shape 41"/>
          <p:cNvSpPr/>
          <p:nvPr/>
        </p:nvSpPr>
        <p:spPr>
          <a:xfrm>
            <a:off x="5650992" y="4169664"/>
            <a:ext cx="54864" cy="5669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5760720" y="42062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 RT-DETR-X*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60720" y="44439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FC4"/>
                </a:solidFill>
              </a:rPr>
              <a:t>Params: 34% fewer   FLOPs: 19% fewer   AP: +0.8% AP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50992" y="481888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5"/>
                </a:solidFill>
              </a:rPr>
              <a:t>*RT-DETR-X uses ImageNet pretraining; YOLOv9 trains from scratch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&amp; SPECIFIC CONTRIBUTIONS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7A95"/>
                </a:solidFill>
              </a:rPr>
              <a:t>SLIDE 2 OF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658368"/>
          </a:xfrm>
          <a:prstGeom prst="rect">
            <a:avLst/>
          </a:prstGeom>
          <a:solidFill>
            <a:srgbClr val="1A3352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64008" cy="65836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9326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D166"/>
                </a:solidFill>
              </a:rPr>
              <a:t>RESEARCH QUESTION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1521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4F2F8"/>
                </a:solidFill>
              </a:rPr>
              <a:t>Does PGI's benefit hold when the information bottleneck pressure is inherently low — on small, simple datasets? And does PGI's benefit degrade or reverse as training data is progressively reduced?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69164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691640"/>
            <a:ext cx="2743200" cy="475488"/>
          </a:xfrm>
          <a:prstGeom prst="rect">
            <a:avLst/>
          </a:prstGeom>
          <a:solidFill>
            <a:srgbClr val="1A3352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" y="1691640"/>
            <a:ext cx="2743200" cy="5029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709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BCCD DATASET &amp; SETUP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249424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3 Classes: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35024" y="2249424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RBC · WBC · Platelets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578608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364 images: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35024" y="2578608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vs COCO's 118K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90779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Low complexity: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35024" y="2907792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Structurally similar cells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236976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Why chosen?: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35024" y="3236976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Minimal bottleneck pressure — ideal stress-test for PGI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566160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Config: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35024" y="3566160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640px · Batch 8 · 50 epochs · Tesla T4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895344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GELAN: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35024" y="3895344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train.py + gelan-c.yaml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4224528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YOLOv9: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35024" y="4224528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train_dual.py + yolov9-c.yaml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553712"/>
            <a:ext cx="960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352"/>
                </a:solidFill>
              </a:rPr>
              <a:t>Params: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35024" y="4553712"/>
            <a:ext cx="1572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25.3M, 102.1 GFLOPs — identical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54680" y="16916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1691640"/>
            <a:ext cx="1920240" cy="475488"/>
          </a:xfrm>
          <a:prstGeom prst="rect">
            <a:avLst/>
          </a:prstGeom>
          <a:solidFill>
            <a:srgbClr val="1A3352"/>
          </a:solidFill>
          <a:ln/>
        </p:spPr>
      </p:sp>
      <p:sp>
        <p:nvSpPr>
          <p:cNvPr id="32" name="Shape 30"/>
          <p:cNvSpPr/>
          <p:nvPr/>
        </p:nvSpPr>
        <p:spPr>
          <a:xfrm>
            <a:off x="3154680" y="1691640"/>
            <a:ext cx="1920240" cy="5029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6120" y="1737360"/>
            <a:ext cx="310896" cy="310896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34" name="Text 32"/>
          <p:cNvSpPr/>
          <p:nvPr/>
        </p:nvSpPr>
        <p:spPr>
          <a:xfrm>
            <a:off x="324612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C2E"/>
                </a:solidFill>
              </a:rPr>
              <a:t>T1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171907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PGI Ablation Study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46120" y="22128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C2E0"/>
                </a:solidFill>
              </a:rPr>
              <a:t>Full BCCD · 364 training images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461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GELAN vs YOLOv9 — identical arch, only PGI differs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3246120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mAP@0.5: +0.0045 · mAP@0.5:0.95: +0.0005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246120" y="3456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PGI doesn't reduce task loss — it improves gradient quality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3246120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Train box loss higher for YOLOv9 (PGI aux loss contribution)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246120" y="44439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Finding: marginal accuracy gain, as predicted by low-bottleneck setting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138928" y="16916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38928" y="1691640"/>
            <a:ext cx="1920240" cy="475488"/>
          </a:xfrm>
          <a:prstGeom prst="rect">
            <a:avLst/>
          </a:prstGeom>
          <a:solidFill>
            <a:srgbClr val="1A3352"/>
          </a:solidFill>
          <a:ln/>
        </p:spPr>
      </p:sp>
      <p:sp>
        <p:nvSpPr>
          <p:cNvPr id="44" name="Shape 42"/>
          <p:cNvSpPr/>
          <p:nvPr/>
        </p:nvSpPr>
        <p:spPr>
          <a:xfrm>
            <a:off x="5138928" y="1691640"/>
            <a:ext cx="1920240" cy="5029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5" name="Shape 43"/>
          <p:cNvSpPr/>
          <p:nvPr/>
        </p:nvSpPr>
        <p:spPr>
          <a:xfrm>
            <a:off x="5230368" y="1737360"/>
            <a:ext cx="310896" cy="3108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6" name="Text 44"/>
          <p:cNvSpPr/>
          <p:nvPr/>
        </p:nvSpPr>
        <p:spPr>
          <a:xfrm>
            <a:off x="5230368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C2E"/>
                </a:solidFill>
              </a:rPr>
              <a:t>T2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96128" y="171907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Training Dynamics Analysis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30368" y="22128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D166"/>
                </a:solidFill>
              </a:rPr>
              <a:t>Per-epoch loss · mAP · precision · recall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30368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Box/cls/DFL loss, precision, recall tracked for all 50 epochs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230368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YOLOv9 crosses mAP &gt; 0.88 at epoch 37 vs 43 for GELAN (6 epochs faster)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230368" y="3456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Higher early variance in YOLOv9 — aux branch competes during warmup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5230368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After epoch 20: both stabilise to equally low variance (~0.02-0.05)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5230368" y="44439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Recall@49: YOLOv9 ~0.90 vs GELAN ~0.87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7123176" y="16916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23176" y="1691640"/>
            <a:ext cx="1920240" cy="475488"/>
          </a:xfrm>
          <a:prstGeom prst="rect">
            <a:avLst/>
          </a:prstGeom>
          <a:solidFill>
            <a:srgbClr val="1A3352"/>
          </a:solidFill>
          <a:ln/>
        </p:spPr>
      </p:sp>
      <p:sp>
        <p:nvSpPr>
          <p:cNvPr id="56" name="Shape 54"/>
          <p:cNvSpPr/>
          <p:nvPr/>
        </p:nvSpPr>
        <p:spPr>
          <a:xfrm>
            <a:off x="7123176" y="1691640"/>
            <a:ext cx="1920240" cy="502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7" name="Shape 55"/>
          <p:cNvSpPr/>
          <p:nvPr/>
        </p:nvSpPr>
        <p:spPr>
          <a:xfrm>
            <a:off x="7214616" y="1737360"/>
            <a:ext cx="310896" cy="3108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8" name="Text 56"/>
          <p:cNvSpPr/>
          <p:nvPr/>
        </p:nvSpPr>
        <p:spPr>
          <a:xfrm>
            <a:off x="7214616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C2E"/>
                </a:solidFill>
              </a:rPr>
              <a:t>T3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80376" y="171907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Small Data Generalisation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214616" y="221284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D6A0"/>
                </a:solidFill>
              </a:rPr>
              <a:t>100% → 50% (182) → 20% (73) images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214616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Both models retrained on 50% and 20% subsets; val set fixed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7214616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50%: PGI actively hurts — YOLOv9 0.7563 vs GELAN 0.7998 (−4.35%)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7214616" y="34564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20%: both collapse; delta negligible (+0.58%)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7214616" y="3950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Central finding: 'Information Bottleneck Threshold Hypothesis'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7214616" y="44439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3D50"/>
                </a:solidFill>
              </a:rPr>
              <a:t>• First systematic empirical evidence of this limitation in PGI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56032" y="4818888"/>
            <a:ext cx="8631936" cy="274320"/>
          </a:xfrm>
          <a:prstGeom prst="rect">
            <a:avLst/>
          </a:prstGeom>
          <a:solidFill>
            <a:srgbClr val="1A3352"/>
          </a:solidFill>
          <a:ln/>
        </p:spPr>
      </p:sp>
      <p:sp>
        <p:nvSpPr>
          <p:cNvPr id="67" name="Text 65"/>
          <p:cNvSpPr/>
          <p:nvPr/>
        </p:nvSpPr>
        <p:spPr>
          <a:xfrm>
            <a:off x="347472" y="48188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★  Novel: Information Bottleneck Threshold Hypothesis — first empirical test of PGI under low-complexity / data-scarce conditions — identifies gap in original paper's generalisation claim.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RESULTS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7A95"/>
                </a:solidFill>
              </a:rPr>
              <a:t>SLIDE 3 OF 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Task 1 &amp; 2 — PGI Ablation + Training Dynamics  (Full BCCD, 50 epochs)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GELAN (no PGI)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YOLOv9 (+PGI)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Delta / Finding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31036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Best mAP@0.5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0.8898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0.8943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+0.0045 ▲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Best mAP@0.5:0.95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0.5841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0.5846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+0.0005 ▲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952244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Best Epoch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44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45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Similar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212848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Epoch to mAP@0.5 &gt; 0.88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~43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~37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6 epochs faster ▲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73452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Epoch to mAP@0.5 &gt; 0.85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~29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~31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Consistent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734056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Train Box Loss @ Best Epoch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1.5176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1.8931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PGI aux inflates log*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94660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Val Box Loss @ Best Epoch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1.2077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N/A †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Not logged by train_dual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55264"/>
          <a:ext cx="557784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261872"/>
                <a:gridCol w="1261872"/>
                <a:gridCol w="877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Recall @ epoch 49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~0.87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~0.90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+0.03 ▲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</a:tr>
            </a:tbl>
          </a:graphicData>
        </a:graphic>
      </p:graphicFrame>
      <p:sp>
        <p:nvSpPr>
          <p:cNvPr id="16" name="Text 5"/>
          <p:cNvSpPr/>
          <p:nvPr/>
        </p:nvSpPr>
        <p:spPr>
          <a:xfrm>
            <a:off x="228600" y="33649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5"/>
                </a:solidFill>
              </a:rPr>
              <a:t>*PGI auxiliary losses inflate logged train loss — not a sign of worse task learning.</a:t>
            </a:r>
            <a:endParaRPr lang="en-US" sz="700" dirty="0"/>
          </a:p>
        </p:txBody>
      </p:sp>
      <p:sp>
        <p:nvSpPr>
          <p:cNvPr id="17" name="Text 6"/>
          <p:cNvSpPr/>
          <p:nvPr/>
        </p:nvSpPr>
        <p:spPr>
          <a:xfrm>
            <a:off x="228600" y="3529584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A95"/>
                </a:solidFill>
              </a:rPr>
              <a:t>†train_dual.py does not write val loss to results CSV (known repository gap; noted as transparency marker).</a:t>
            </a:r>
            <a:endParaRPr lang="en-US" sz="700" dirty="0"/>
          </a:p>
        </p:txBody>
      </p:sp>
      <p:sp>
        <p:nvSpPr>
          <p:cNvPr id="18" name="Text 7"/>
          <p:cNvSpPr/>
          <p:nvPr/>
        </p:nvSpPr>
        <p:spPr>
          <a:xfrm>
            <a:off x="228600" y="3749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Task 3 — Small Data Generalisation  (mAP@0.5)</a:t>
            </a:r>
            <a:endParaRPr lang="en-US" sz="950" dirty="0"/>
          </a:p>
        </p:txBody>
      </p:sp>
      <p:graphicFrame>
        <p:nvGraphicFramePr>
          <p:cNvPr id="3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023360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822960"/>
                <a:gridCol w="82296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Data Split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Images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GELAN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YOLOv9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28396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822960"/>
                <a:gridCol w="82296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100% (364 imgs)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364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0.8898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0.8943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D6A0"/>
                          </a:solidFill>
                        </a:rPr>
                        <a:t>+0.0045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D6A0"/>
                          </a:solidFill>
                        </a:rPr>
                        <a:t>YOLOv9 ✓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544568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822960"/>
                <a:gridCol w="82296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50%  (182 imgs)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182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0.7998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F476F"/>
                          </a:solidFill>
                        </a:rPr>
                        <a:t>0.7563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F476F"/>
                          </a:solidFill>
                        </a:rPr>
                        <a:t>−0.0435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</a:rPr>
                        <a:t>GELAN ✓ ★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805172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822960"/>
                <a:gridCol w="82296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4F2F8"/>
                          </a:solidFill>
                        </a:rPr>
                        <a:t>20%  (73 imgs)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73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AAFC4"/>
                          </a:solidFill>
                        </a:rPr>
                        <a:t>0.1401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D6A0"/>
                          </a:solidFill>
                        </a:rPr>
                        <a:t>0.1459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AFC4"/>
                          </a:solidFill>
                        </a:rPr>
                        <a:t>+0.0058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AAFC4"/>
                          </a:solidFill>
                        </a:rPr>
                        <a:t>Both fail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</a:tbl>
          </a:graphicData>
        </a:graphic>
      </p:graphicFrame>
      <p:sp>
        <p:nvSpPr>
          <p:cNvPr id="23" name="Text 8"/>
          <p:cNvSpPr/>
          <p:nvPr/>
        </p:nvSpPr>
        <p:spPr>
          <a:xfrm>
            <a:off x="228600" y="4846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F476F"/>
                </a:solidFill>
              </a:rPr>
              <a:t>★ At 50% data, PGI actively hurts (−4.35%). Auxiliary branch creates conflicting gradients under data-scarce conditions.</a:t>
            </a:r>
            <a:endParaRPr lang="en-US" sz="750" dirty="0"/>
          </a:p>
        </p:txBody>
      </p:sp>
      <p:sp>
        <p:nvSpPr>
          <p:cNvPr id="24" name="Shape 9"/>
          <p:cNvSpPr/>
          <p:nvPr/>
        </p:nvSpPr>
        <p:spPr>
          <a:xfrm>
            <a:off x="5943600" y="868680"/>
            <a:ext cx="3108960" cy="4224528"/>
          </a:xfrm>
          <a:prstGeom prst="rect">
            <a:avLst/>
          </a:prstGeom>
          <a:solidFill>
            <a:srgbClr val="122338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0"/>
          <p:cNvSpPr/>
          <p:nvPr/>
        </p:nvSpPr>
        <p:spPr>
          <a:xfrm>
            <a:off x="6035040" y="932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E0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26" name="Shape 11"/>
          <p:cNvSpPr/>
          <p:nvPr/>
        </p:nvSpPr>
        <p:spPr>
          <a:xfrm>
            <a:off x="6035040" y="1261872"/>
            <a:ext cx="2926080" cy="822960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27" name="Shape 12"/>
          <p:cNvSpPr/>
          <p:nvPr/>
        </p:nvSpPr>
        <p:spPr>
          <a:xfrm>
            <a:off x="6035040" y="1261872"/>
            <a:ext cx="54864" cy="8229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8" name="Shape 13"/>
          <p:cNvSpPr/>
          <p:nvPr/>
        </p:nvSpPr>
        <p:spPr>
          <a:xfrm>
            <a:off x="6126480" y="1335024"/>
            <a:ext cx="292608" cy="292608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29" name="Text 14"/>
          <p:cNvSpPr/>
          <p:nvPr/>
        </p:nvSpPr>
        <p:spPr>
          <a:xfrm>
            <a:off x="6126480" y="1335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C2E"/>
                </a:solidFill>
              </a:rPr>
              <a:t>F1</a:t>
            </a:r>
            <a:endParaRPr lang="en-US" sz="900" dirty="0"/>
          </a:p>
        </p:txBody>
      </p:sp>
      <p:sp>
        <p:nvSpPr>
          <p:cNvPr id="30" name="Text 15"/>
          <p:cNvSpPr/>
          <p:nvPr/>
        </p:nvSpPr>
        <p:spPr>
          <a:xfrm>
            <a:off x="6473952" y="131673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E0"/>
                </a:solidFill>
              </a:rPr>
              <a:t>Marginal accuracy at full data</a:t>
            </a:r>
            <a:endParaRPr lang="en-US" sz="900" dirty="0"/>
          </a:p>
        </p:txBody>
      </p:sp>
      <p:sp>
        <p:nvSpPr>
          <p:cNvPr id="31" name="Text 16"/>
          <p:cNvSpPr/>
          <p:nvPr/>
        </p:nvSpPr>
        <p:spPr>
          <a:xfrm>
            <a:off x="6473952" y="15819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4F2F8"/>
                </a:solidFill>
              </a:rPr>
              <a:t>mAP@0.5: +0.0045. BCCD's low complexity leaves minimal room for PGI gradient correction to manifest as accuracy gain — sits at lower bound of paper's reported range.</a:t>
            </a:r>
            <a:endParaRPr lang="en-US" sz="780" dirty="0"/>
          </a:p>
        </p:txBody>
      </p:sp>
      <p:sp>
        <p:nvSpPr>
          <p:cNvPr id="32" name="Shape 17"/>
          <p:cNvSpPr/>
          <p:nvPr/>
        </p:nvSpPr>
        <p:spPr>
          <a:xfrm>
            <a:off x="6035040" y="2157984"/>
            <a:ext cx="2926080" cy="822960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3" name="Shape 18"/>
          <p:cNvSpPr/>
          <p:nvPr/>
        </p:nvSpPr>
        <p:spPr>
          <a:xfrm>
            <a:off x="6035040" y="2157984"/>
            <a:ext cx="54864" cy="8229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4" name="Shape 19"/>
          <p:cNvSpPr/>
          <p:nvPr/>
        </p:nvSpPr>
        <p:spPr>
          <a:xfrm>
            <a:off x="6126480" y="2231136"/>
            <a:ext cx="292608" cy="29260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5" name="Text 20"/>
          <p:cNvSpPr/>
          <p:nvPr/>
        </p:nvSpPr>
        <p:spPr>
          <a:xfrm>
            <a:off x="6126480" y="2231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C2E"/>
                </a:solidFill>
              </a:rPr>
              <a:t>F2</a:t>
            </a:r>
            <a:endParaRPr lang="en-US" sz="900" dirty="0"/>
          </a:p>
        </p:txBody>
      </p:sp>
      <p:sp>
        <p:nvSpPr>
          <p:cNvPr id="36" name="Text 21"/>
          <p:cNvSpPr/>
          <p:nvPr/>
        </p:nvSpPr>
        <p:spPr>
          <a:xfrm>
            <a:off x="6473952" y="22128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Convergence acceleration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6473952" y="24780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4F2F8"/>
                </a:solidFill>
              </a:rPr>
              <a:t>YOLOv9 crosses mAP@0.5 &gt; 0.88 six epochs earlier. On simple data, PGI's primary benefit = learning efficiency, NOT peak accuracy.</a:t>
            </a:r>
            <a:endParaRPr lang="en-US" sz="780" dirty="0"/>
          </a:p>
        </p:txBody>
      </p:sp>
      <p:sp>
        <p:nvSpPr>
          <p:cNvPr id="38" name="Shape 23"/>
          <p:cNvSpPr/>
          <p:nvPr/>
        </p:nvSpPr>
        <p:spPr>
          <a:xfrm>
            <a:off x="6035040" y="3054096"/>
            <a:ext cx="2926080" cy="822960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9" name="Shape 24"/>
          <p:cNvSpPr/>
          <p:nvPr/>
        </p:nvSpPr>
        <p:spPr>
          <a:xfrm>
            <a:off x="6035040" y="3054096"/>
            <a:ext cx="54864" cy="8229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0" name="Shape 25"/>
          <p:cNvSpPr/>
          <p:nvPr/>
        </p:nvSpPr>
        <p:spPr>
          <a:xfrm>
            <a:off x="6126480" y="3127248"/>
            <a:ext cx="292608" cy="29260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41" name="Text 26"/>
          <p:cNvSpPr/>
          <p:nvPr/>
        </p:nvSpPr>
        <p:spPr>
          <a:xfrm>
            <a:off x="6126480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C2E"/>
                </a:solidFill>
              </a:rPr>
              <a:t>F3</a:t>
            </a:r>
            <a:endParaRPr lang="en-US" sz="900" dirty="0"/>
          </a:p>
        </p:txBody>
      </p:sp>
      <p:sp>
        <p:nvSpPr>
          <p:cNvPr id="42" name="Text 27"/>
          <p:cNvSpPr/>
          <p:nvPr/>
        </p:nvSpPr>
        <p:spPr>
          <a:xfrm>
            <a:off x="6473952" y="31089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PGI hurts at 50% data (−4.35%)</a:t>
            </a:r>
            <a:endParaRPr lang="en-US" sz="900" dirty="0"/>
          </a:p>
        </p:txBody>
      </p:sp>
      <p:sp>
        <p:nvSpPr>
          <p:cNvPr id="43" name="Text 28"/>
          <p:cNvSpPr/>
          <p:nvPr/>
        </p:nvSpPr>
        <p:spPr>
          <a:xfrm>
            <a:off x="6473952" y="33741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4F2F8"/>
                </a:solidFill>
              </a:rPr>
              <a:t>Most striking result. Auxiliary branch creates conflicting gradients when training signal is limited. GELAN 0.7998 vs YOLOv9 0.7563.</a:t>
            </a:r>
            <a:endParaRPr lang="en-US" sz="780" dirty="0"/>
          </a:p>
        </p:txBody>
      </p:sp>
      <p:sp>
        <p:nvSpPr>
          <p:cNvPr id="44" name="Shape 29"/>
          <p:cNvSpPr/>
          <p:nvPr/>
        </p:nvSpPr>
        <p:spPr>
          <a:xfrm>
            <a:off x="6035040" y="3950208"/>
            <a:ext cx="2926080" cy="822960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45" name="Shape 30"/>
          <p:cNvSpPr/>
          <p:nvPr/>
        </p:nvSpPr>
        <p:spPr>
          <a:xfrm>
            <a:off x="6035040" y="3950208"/>
            <a:ext cx="54864" cy="822960"/>
          </a:xfrm>
          <a:prstGeom prst="rect">
            <a:avLst/>
          </a:prstGeom>
          <a:solidFill>
            <a:srgbClr val="8AAFC4"/>
          </a:solidFill>
          <a:ln/>
        </p:spPr>
      </p:sp>
      <p:sp>
        <p:nvSpPr>
          <p:cNvPr id="46" name="Shape 31"/>
          <p:cNvSpPr/>
          <p:nvPr/>
        </p:nvSpPr>
        <p:spPr>
          <a:xfrm>
            <a:off x="6126480" y="4023360"/>
            <a:ext cx="292608" cy="292608"/>
          </a:xfrm>
          <a:prstGeom prst="ellipse">
            <a:avLst/>
          </a:prstGeom>
          <a:solidFill>
            <a:srgbClr val="8AAFC4"/>
          </a:solidFill>
          <a:ln/>
        </p:spPr>
      </p:sp>
      <p:sp>
        <p:nvSpPr>
          <p:cNvPr id="47" name="Text 32"/>
          <p:cNvSpPr/>
          <p:nvPr/>
        </p:nvSpPr>
        <p:spPr>
          <a:xfrm>
            <a:off x="612648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C2E"/>
                </a:solidFill>
              </a:rPr>
              <a:t>F4</a:t>
            </a:r>
            <a:endParaRPr lang="en-US" sz="900" dirty="0"/>
          </a:p>
        </p:txBody>
      </p:sp>
      <p:sp>
        <p:nvSpPr>
          <p:cNvPr id="48" name="Text 33"/>
          <p:cNvSpPr/>
          <p:nvPr/>
        </p:nvSpPr>
        <p:spPr>
          <a:xfrm>
            <a:off x="6473952" y="40050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FC4"/>
                </a:solidFill>
              </a:rPr>
              <a:t>Both collapse at 20% data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6473952" y="42702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4F2F8"/>
                </a:solidFill>
              </a:rPr>
              <a:t>73 images insufficient for either model. PGI negligible +0.58%. No reliable gradient signal to correct. Data sufficiency threshold not met.</a:t>
            </a:r>
            <a:endParaRPr lang="en-US" sz="780" dirty="0"/>
          </a:p>
        </p:txBody>
      </p:sp>
      <p:sp>
        <p:nvSpPr>
          <p:cNvPr id="50" name="Shape 35"/>
          <p:cNvSpPr/>
          <p:nvPr/>
        </p:nvSpPr>
        <p:spPr>
          <a:xfrm>
            <a:off x="6035040" y="4846320"/>
            <a:ext cx="2926080" cy="2286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1" name="Text 36"/>
          <p:cNvSpPr/>
          <p:nvPr/>
        </p:nvSpPr>
        <p:spPr>
          <a:xfrm>
            <a:off x="603504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C2E"/>
                </a:solidFill>
              </a:rPr>
              <a:t>Data Sufficiency Threshold: PGI works above it, hurts below it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TEAM MEMBER CONTRIBUTIONS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0" y="4892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7A95"/>
                </a:solidFill>
              </a:rPr>
              <a:t>SLIDE 4 OF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886968"/>
            <a:ext cx="2834640" cy="4151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86968"/>
            <a:ext cx="2834640" cy="804672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886968"/>
            <a:ext cx="283464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" y="950976"/>
            <a:ext cx="566928" cy="566928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9326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Vasishtha Pandya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12618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C2E0"/>
                </a:solidFill>
              </a:rPr>
              <a:t>B22CS036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" y="1764792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00C2E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C2E"/>
                </a:solidFill>
              </a:rPr>
              <a:t>Paper Research &amp; PPT Lead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6616" y="213055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train_dual.py notebook — trained YOLOv9 with PGI on the full BCCD dataset on Kaggle GPU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56616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Dataset research — BCCD selection rationale, data.yaml path configuration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56616" y="302666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Paper research &amp; theory review — PGI/GELAN architecture, information bottleneck principle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56616" y="347472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Designed and built Phase-1 PPT — slide design, visual layout, all 4 slides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56616" y="392277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Co-formulated experimental research questions with the team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172968" y="886968"/>
            <a:ext cx="2834640" cy="4151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886968"/>
            <a:ext cx="2834640" cy="804672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22" name="Shape 20"/>
          <p:cNvSpPr/>
          <p:nvPr/>
        </p:nvSpPr>
        <p:spPr>
          <a:xfrm>
            <a:off x="3172968" y="886968"/>
            <a:ext cx="283464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0984" y="950976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4" name="Text 22"/>
          <p:cNvSpPr/>
          <p:nvPr/>
        </p:nvSpPr>
        <p:spPr>
          <a:xfrm>
            <a:off x="3300984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950208" y="9326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Yogita Mundankar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950208" y="12618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</a:rPr>
              <a:t>B22CS068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00984" y="1764792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3300984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C2E"/>
                </a:solidFill>
              </a:rPr>
              <a:t>Research Design, Notebooks &amp; Report Lead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00984" y="213055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M1 notebook — main training &amp; evaluation workflow (dl-course-project.ipynb)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300984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M3 notebook — small-data generalisation experiments (dl-course-project_M3_task.ipynb)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300984" y="302666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Dataset research — BCCD upload to Kaggle, 50%/20% stratified splits for Task 3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300984" y="347472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Full project report — all three sections, findings, limitations, future work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3300984" y="392277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Formulated the Information Bottleneck Threshold Hypothesis (central novelty)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117336" y="886968"/>
            <a:ext cx="2834640" cy="41513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886968"/>
            <a:ext cx="2834640" cy="804672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36" name="Shape 34"/>
          <p:cNvSpPr/>
          <p:nvPr/>
        </p:nvSpPr>
        <p:spPr>
          <a:xfrm>
            <a:off x="6117336" y="886968"/>
            <a:ext cx="28346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7" name="Shape 35"/>
          <p:cNvSpPr/>
          <p:nvPr/>
        </p:nvSpPr>
        <p:spPr>
          <a:xfrm>
            <a:off x="6245352" y="950976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8" name="Text 36"/>
          <p:cNvSpPr/>
          <p:nvPr/>
        </p:nvSpPr>
        <p:spPr>
          <a:xfrm>
            <a:off x="6245352" y="950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94576" y="93268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Yashraj Anupam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894576" y="126187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B22CS075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45352" y="1764792"/>
            <a:ext cx="2560320" cy="274320"/>
          </a:xfrm>
          <a:prstGeom prst="roundRect">
            <a:avLst>
              <a:gd name="adj" fmla="val 26667"/>
            </a:avLst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6245352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C2E"/>
                </a:solidFill>
              </a:rPr>
              <a:t>Results, Code &amp; Remaining Work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45352" y="2130552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Project report writing — co-authored sections and result narration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245352" y="2578608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Result aggregation code — pandas comparison tables, matplotlib training curve plots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245352" y="3026664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Consolidated all task outputs into final notebook; managed Kaggle output folder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245352" y="347472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Checkpoint storage and model weight management across all splits and runs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245352" y="3922776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22222"/>
                </a:solidFill>
              </a:rPr>
              <a:t>• Remaining experiment support — setup, debugging, and validation across tasks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28600" y="4818888"/>
            <a:ext cx="8686800" cy="274320"/>
          </a:xfrm>
          <a:prstGeom prst="rect">
            <a:avLst/>
          </a:prstGeom>
          <a:solidFill>
            <a:srgbClr val="122338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AAFC4"/>
                </a:solidFill>
              </a:rPr>
              <a:t>Dataset: BCCD  |  Framework: YOLOv9 (WongKinYiu/yolov9)  |  Platform: Kaggle Tesla T4 GPU  |  GitHub: github.com/PandyaVasishtha/DL_course_project_b22cs036_068_075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YOLOv9 on BCCD – DL Course Project</dc:title>
  <dc:subject>PptxGenJS Presentation</dc:subject>
  <dc:creator>PptxGenJS</dc:creator>
  <cp:lastModifiedBy>PptxGenJS</cp:lastModifiedBy>
  <cp:revision>1</cp:revision>
  <dcterms:created xsi:type="dcterms:W3CDTF">2026-03-28T18:23:23Z</dcterms:created>
  <dcterms:modified xsi:type="dcterms:W3CDTF">2026-03-28T18:23:23Z</dcterms:modified>
</cp:coreProperties>
</file>